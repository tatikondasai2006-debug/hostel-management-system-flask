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Segoe UI"/>
              </a:rPr>
              <a:t>FLASK  ·  POSTGRESQL  ·  ROLE-BASED PORTALS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200" b="1" i="0">
                <a:solidFill>
                  <a:srgbClr val="F8FAFC"/>
                </a:solidFill>
                <a:latin typeface="Segoe UI"/>
              </a:rPr>
              <a:t>Hostel Management</a:t>
            </a:r>
          </a:p>
          <a:p>
            <a:pPr algn="l">
              <a:lnSpc>
                <a:spcPct val="95000"/>
              </a:lnSpc>
            </a:pPr>
            <a:r>
              <a:rPr sz="5200" b="1" i="0">
                <a:solidFill>
                  <a:srgbClr val="A855F7"/>
                </a:solidFill>
                <a:latin typeface="Segoe U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03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3A4C4"/>
                </a:solidFill>
                <a:latin typeface="Segoe UI"/>
              </a:rPr>
              <a:t>The complete admin + student portal — set up, allocate, bill, collect and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886968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8869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Segoe UI"/>
              </a:rPr>
              <a:t>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9655" y="4572000"/>
            <a:ext cx="886968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9655" y="4572000"/>
            <a:ext cx="8869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Segoe UI"/>
              </a:rPr>
              <a:t>Rooms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1" y="4572000"/>
            <a:ext cx="1243584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1" y="4572000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Segoe UI"/>
              </a:rPr>
              <a:t>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9663" y="4572000"/>
            <a:ext cx="1243584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9663" y="4572000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Segoe UI"/>
              </a:rPr>
              <a:t>Allocate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2975" y="4572000"/>
            <a:ext cx="768096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5" y="4572000"/>
            <a:ext cx="7680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Segoe UI"/>
              </a:rPr>
              <a:t>Bill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799" y="4572000"/>
            <a:ext cx="649224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4572000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Segoe UI"/>
              </a:rPr>
              <a:t>Pay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9751" y="4572000"/>
            <a:ext cx="10058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1" y="4572000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8FAFC"/>
                </a:solidFill>
                <a:latin typeface="Segoe UI"/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Segoe UI"/>
              </a:rPr>
              <a:t>Sunrise Student Hostel   |   a pin-to-pin workflow walkthrough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6692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One system. Two portals. Zero guesswork.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3A4C4"/>
                </a:solidFill>
                <a:latin typeface="Segoe UI"/>
              </a:rPr>
              <a:t>Everything an operator needs, and a clean self-service view for every resident.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587752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2587752" cy="82296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4F8DFD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Portals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872" y="2286000"/>
            <a:ext cx="2587752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2286000"/>
            <a:ext cx="2587752" cy="82296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1" y="256032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2D3EE"/>
                </a:solidFill>
                <a:latin typeface="Segoe U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342900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2286000"/>
            <a:ext cx="2587752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5664" y="2286000"/>
            <a:ext cx="2587752" cy="82296"/>
          </a:xfrm>
          <a:prstGeom prst="rect">
            <a:avLst/>
          </a:prstGeom>
          <a:gradFill rotWithShape="1">
            <a:gsLst>
              <a:gs pos="0">
                <a:srgbClr val="34D399"/>
              </a:gs>
              <a:gs pos="100000">
                <a:srgbClr val="34D39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4" y="256032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34D399"/>
                </a:solidFill>
                <a:latin typeface="Segoe UI"/>
              </a:rPr>
              <a:t>147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342900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Tests passing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3456" y="2286000"/>
            <a:ext cx="2587752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63456" y="2286000"/>
            <a:ext cx="2587752" cy="82296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7776" y="2560320"/>
            <a:ext cx="2039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A855F7"/>
                </a:solidFill>
                <a:latin typeface="Segoe U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7776" y="3429000"/>
            <a:ext cx="2039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8FAFC"/>
                </a:solidFill>
                <a:latin typeface="Segoe UI"/>
              </a:rPr>
              <a:t>Role-guarded routes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10908792" cy="12801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091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Admins run hostels, rooms, allocations, billing and payments.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Students sign in to view their room, bills, payments and receipts.</a:t>
            </a:r>
          </a:p>
          <a:p>
            <a:pPr algn="l">
              <a:spcAft>
                <a:spcPts val="10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One database, one audit trail, one source of truth.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6692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Two portals, one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3A4C4"/>
                </a:solidFill>
                <a:latin typeface="Segoe UI"/>
              </a:rPr>
              <a:t>The landing page is decided by the account's role at login.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303520" cy="37033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303520" cy="64008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217627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Segoe UI"/>
              </a:rPr>
              <a:t>Admin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1945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F8FAFC"/>
                </a:solidFill>
                <a:latin typeface="Segoe UI"/>
              </a:rPr>
              <a:t>/admin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288036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Hostels &amp; rooms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Students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Allocations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Fees &amp; structures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Payments &amp; receipts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Reports &amp; audit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2057400"/>
            <a:ext cx="5303520" cy="37033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057400"/>
            <a:ext cx="5303520" cy="640080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17627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8FAFC"/>
                </a:solidFill>
                <a:latin typeface="Segoe UI"/>
              </a:rPr>
              <a:t>Student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19456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F8FAFC"/>
                </a:solidFill>
                <a:latin typeface="Segoe UI"/>
              </a:rPr>
              <a:t>/portal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880360"/>
            <a:ext cx="4709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Dashboard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Profile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My room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My bills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My payments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22D3EE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93A4C4"/>
                </a:solidFill>
                <a:latin typeface="Segoe UI"/>
              </a:rPr>
              <a:t>PDF receipts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6692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UNDER THE 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Built on a modern, boring-in-a-good-way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3A4C4"/>
                </a:solidFill>
                <a:latin typeface="Segoe UI"/>
              </a:rPr>
              <a:t>Batteries included, standards-based, easy to run and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19" y="2514600"/>
            <a:ext cx="731520" cy="731520"/>
          </a:xfrm>
          <a:prstGeom prst="ellipse">
            <a:avLst/>
          </a:prstGeom>
          <a:solidFill>
            <a:srgbClr val="4F8D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25146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8FAFC"/>
                </a:solidFill>
                <a:latin typeface="Segoe UI"/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532888"/>
            <a:ext cx="19933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Flask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53512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3A4C4"/>
                </a:solidFill>
                <a:latin typeface="Segoe UI"/>
              </a:rPr>
              <a:t>App factory + blueprints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90872" y="2514600"/>
            <a:ext cx="731520" cy="731520"/>
          </a:xfrm>
          <a:prstGeom prst="ellipse">
            <a:avLst/>
          </a:prstGeom>
          <a:solidFill>
            <a:srgbClr val="4F8D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25146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8FAFC"/>
                </a:solidFill>
                <a:latin typeface="Segoe UI"/>
              </a:rPr>
              <a:t>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2" y="2532888"/>
            <a:ext cx="19933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2953512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3A4C4"/>
                </a:solidFill>
                <a:latin typeface="Segoe UI"/>
              </a:rPr>
              <a:t>SQLAlchemy + Alembic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1624" y="2514600"/>
            <a:ext cx="731520" cy="731520"/>
          </a:xfrm>
          <a:prstGeom prst="ellipse">
            <a:avLst/>
          </a:prstGeom>
          <a:solidFill>
            <a:srgbClr val="4F8D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251460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8FAFC"/>
                </a:solidFill>
                <a:latin typeface="Segoe UI"/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532888"/>
            <a:ext cx="19933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Flask-Login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953512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3A4C4"/>
                </a:solidFill>
                <a:latin typeface="Segoe UI"/>
              </a:rPr>
              <a:t>Role-based sessions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19" y="4434840"/>
            <a:ext cx="731520" cy="731520"/>
          </a:xfrm>
          <a:prstGeom prst="ellipse">
            <a:avLst/>
          </a:prstGeom>
          <a:solidFill>
            <a:srgbClr val="4F8D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4348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8FAFC"/>
                </a:solidFill>
                <a:latin typeface="Segoe UI"/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453128"/>
            <a:ext cx="19933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Bootstrap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873752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3A4C4"/>
                </a:solidFill>
                <a:latin typeface="Segoe UI"/>
              </a:rPr>
              <a:t>Responsive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90872" y="4434840"/>
            <a:ext cx="731520" cy="731520"/>
          </a:xfrm>
          <a:prstGeom prst="ellipse">
            <a:avLst/>
          </a:prstGeom>
          <a:solidFill>
            <a:srgbClr val="4F8D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44348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8FAFC"/>
                </a:solidFill>
                <a:latin typeface="Segoe UI"/>
              </a:rPr>
              <a:t>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2" y="4453128"/>
            <a:ext cx="19933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ReportLab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4873752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3A4C4"/>
                </a:solidFill>
                <a:latin typeface="Segoe UI"/>
              </a:rPr>
              <a:t>PDF receipts &amp; reports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21624" y="4434840"/>
            <a:ext cx="731520" cy="731520"/>
          </a:xfrm>
          <a:prstGeom prst="ellipse">
            <a:avLst/>
          </a:prstGeom>
          <a:solidFill>
            <a:srgbClr val="4F8DFD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44348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F8FAFC"/>
                </a:solidFill>
                <a:latin typeface="Segoe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4453128"/>
            <a:ext cx="19933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8FAFC"/>
                </a:solidFill>
                <a:latin typeface="Segoe UI"/>
              </a:rPr>
              <a:t>pytest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36024" y="4873752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3A4C4"/>
                </a:solidFill>
                <a:latin typeface="Segoe UI"/>
              </a:rPr>
              <a:t>147 tests passing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6692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WORKFLOW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Admin portal — the 8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3A4C4"/>
                </a:solidFill>
                <a:latin typeface="Segoe UI"/>
              </a:rPr>
              <a:t>From sign-in to reporting.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1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2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4224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3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Hostels &amp; Rooms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26296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4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Students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5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6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6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2152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8184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7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Payments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8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Reports &amp; Audit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008376" y="2628900"/>
            <a:ext cx="548640" cy="274320"/>
          </a:xfrm>
          <a:prstGeom prst="righ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5870448" y="2628900"/>
            <a:ext cx="548640" cy="274320"/>
          </a:xfrm>
          <a:prstGeom prst="righ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8732520" y="2628900"/>
            <a:ext cx="548640" cy="274320"/>
          </a:xfrm>
          <a:prstGeom prst="righ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10250424" y="3319272"/>
            <a:ext cx="274320" cy="950976"/>
          </a:xfrm>
          <a:prstGeom prst="downArrow">
            <a:avLst/>
          </a:prstGeom>
          <a:solidFill>
            <a:srgbClr val="A855F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eft Arrow 37"/>
          <p:cNvSpPr/>
          <p:nvPr/>
        </p:nvSpPr>
        <p:spPr>
          <a:xfrm>
            <a:off x="8732520" y="4686300"/>
            <a:ext cx="548640" cy="274320"/>
          </a:xfrm>
          <a:prstGeom prst="lef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eft Arrow 38"/>
          <p:cNvSpPr/>
          <p:nvPr/>
        </p:nvSpPr>
        <p:spPr>
          <a:xfrm>
            <a:off x="5870448" y="4686300"/>
            <a:ext cx="548640" cy="274320"/>
          </a:xfrm>
          <a:prstGeom prst="lef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3008376" y="4686300"/>
            <a:ext cx="548640" cy="274320"/>
          </a:xfrm>
          <a:prstGeom prst="lef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2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3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4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1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Admin signs in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/auth/login → /admin/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Email + password verified against the stored hash.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A Flask-Login session opens and last_login_at is stamped.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Role decides the landing page: admin →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/auth/login → /admin/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credentials → 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app/auth/routes.py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rate-limited · no enumeration · role redirect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3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4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2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Operational dashboard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Live KPIs: students, rooms, capacity, occupancy.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Monthly collection, outstanding and overdue count.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Charts: by room type, by hostel, 6-month trend.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/admin/  (admin.dashboard)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SQL aggregates → cards + charts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admin/routes.py · services/dashboard_service.py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admin_required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4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3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Set up hostels &amp; rooms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/hostels · /rooms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Create a hostel, then add rooms (type, capacity, base fee).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Capacity can never drop below current occupancy.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Rooms with history can't be deleted — make unavailable.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/hostels · /rooms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form → Hostel / Room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rooms/routes.py · rooms/forms.py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capacity ≥ occupancy · unique number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4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Onboard students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Create a student + optional portal login in one step.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Filter by course, year, status, allocation, fee state.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Deactivating automatically releases the active room.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profile → Student (+ User)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students/routes.py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unique email &amp; roll no · deactivation frees bed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5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Allocate beds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/allocations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Auto, manual, transfer and release operations.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Auto picks the lowest free bed in the first eligible room.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Concurrency-safe: SKIP LOCKED + unique indexes + trigger.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/allocations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 + room → active allocation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allocations/routes.py · services/allocation_service.py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no double-booking · retries on contention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6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6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Generate monthly bills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Structures per room type set the default amounts.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Generate for a period (YYYY-MM); duplicates skipped.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Late fee after grace; status paid / partial / overdue / pending.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/fees  (+ /fees/structures)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rooms + structures + period → StudentFee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fees/routes.py · services/fee_service.py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Decimal money · idempotent generation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6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7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7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Record payments &amp; receipts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Idempotency key prevents duplicate payments.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Fee row locked (FOR UPDATE); overpayment rejected.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Immutable — corrections are linked reversals; PDF receipt.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payment → Payment row → balance 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payments/routes.py · services/payment_service.py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idempotent · immutable · receipt PDF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Hostels &amp; Rooms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6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7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8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Reports &amp;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8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Reports, audit &amp; settings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Slug-based reports with CSV export + occupancy/financial PDFs.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Audit log records who changed what.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Settings: hostel identity, currency, late-fee policy.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/reports · /admin/audit · /admin/settings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DB → CSV / PDF · every write →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reports/routes.py · admin/routes.py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admin_required · immutable audit trail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6692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WORKFLOW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Student portal — the 8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3A4C4"/>
                </a:solidFill>
                <a:latin typeface="Segoe UI"/>
              </a:rPr>
              <a:t>From sign-up to receipts.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1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2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4224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3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22860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26296" y="22860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82328" y="24323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4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5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0256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6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2152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8184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7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Payments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43400"/>
            <a:ext cx="2322576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343400"/>
            <a:ext cx="91440" cy="96012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489704"/>
            <a:ext cx="1865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STEP 8</a:t>
            </a:r>
          </a:p>
          <a:p>
            <a:pPr algn="l"/>
            <a:r>
              <a:rPr sz="1300" b="1" i="0">
                <a:solidFill>
                  <a:srgbClr val="F8FAFC"/>
                </a:solidFill>
                <a:latin typeface="Segoe UI"/>
              </a:rPr>
              <a:t>Receipts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008376" y="2628900"/>
            <a:ext cx="548640" cy="274320"/>
          </a:xfrm>
          <a:prstGeom prst="righ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5870448" y="2628900"/>
            <a:ext cx="548640" cy="274320"/>
          </a:xfrm>
          <a:prstGeom prst="righ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8732520" y="2628900"/>
            <a:ext cx="548640" cy="274320"/>
          </a:xfrm>
          <a:prstGeom prst="righ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10250424" y="3319272"/>
            <a:ext cx="274320" cy="950976"/>
          </a:xfrm>
          <a:prstGeom prst="downArrow">
            <a:avLst/>
          </a:prstGeom>
          <a:solidFill>
            <a:srgbClr val="A855F7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eft Arrow 37"/>
          <p:cNvSpPr/>
          <p:nvPr/>
        </p:nvSpPr>
        <p:spPr>
          <a:xfrm>
            <a:off x="8732520" y="4686300"/>
            <a:ext cx="548640" cy="274320"/>
          </a:xfrm>
          <a:prstGeom prst="lef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Left Arrow 38"/>
          <p:cNvSpPr/>
          <p:nvPr/>
        </p:nvSpPr>
        <p:spPr>
          <a:xfrm>
            <a:off x="5870448" y="4686300"/>
            <a:ext cx="548640" cy="274320"/>
          </a:xfrm>
          <a:prstGeom prst="lef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3008376" y="4686300"/>
            <a:ext cx="548640" cy="274320"/>
          </a:xfrm>
          <a:prstGeom prst="leftArrow">
            <a:avLst/>
          </a:prstGeom>
          <a:solidFill>
            <a:srgbClr val="4F8DF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2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3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4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1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Create a portal account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/auth/signup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Signup creates the User (role = student) + Student profile.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Email and roll number must be unique.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New accounts link straight to the student portal.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/auth/signup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signup → User + Student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app/auth/routes.py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rate-limited · unique email &amp; roll no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3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4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2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Student signs in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/auth/login → /portal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Same login endpoint; the role picks the destination.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Students always land on the portal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/auth/login → /portal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credentials → session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app/auth/routes.py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rate-limited · role redirect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4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3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Personal dashboard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Current room allocation and recent payments.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Upcoming due bill and totals: billed, paid, outstanding.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Everything scoped to the logged-in student.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own records →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students/portal.py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student_required · self-scoped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5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4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Profile self-service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/portal/profile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View the profile; edit phone, address, emergency contact.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Identity fields stay admin-controlled.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/portal/profile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limited form → Student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students/portal.py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editable fields restricted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6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5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My room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/portal/allocations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Current bed plus full allocation history.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Read-only — allocation is an admin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/portal/allocations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own allocations →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students/portal.py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6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7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6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My bills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/portal/fees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Monthly bills with amount, paid, balance, status.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Per-bill detail shows the breakdown and due date.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Opening someone else's bill returns 404.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/portal/fees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own fees → list / detail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students/portal.py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6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7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F8FAF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6B7A99"/>
                </a:solidFill>
                <a:latin typeface="Segoe UI"/>
              </a:rPr>
              <a:t>8 </a:t>
            </a:r>
            <a:r>
              <a:rPr sz="950" b="0" i="0">
                <a:solidFill>
                  <a:srgbClr val="6B7A99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7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My payments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/portal/payments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History of payments recorded against the account.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Read-only — recording is an admin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/portal/payments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own payments →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students/portal.py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self-scoped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2D3EE"/>
                </a:solidFill>
                <a:latin typeface="Segoe UI"/>
              </a:rPr>
              <a:t>STEP-BY-STEP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1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853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2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Sign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6996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3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5454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4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5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Allocations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2370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6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Fees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0828" y="566928"/>
            <a:ext cx="1259586" cy="420624"/>
          </a:xfrm>
          <a:prstGeom prst="roundRect">
            <a:avLst>
              <a:gd name="adj" fmla="val 35000"/>
            </a:avLst>
          </a:prstGeom>
          <a:solidFill>
            <a:srgbClr val="34D399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7 </a:t>
            </a:r>
            <a:r>
              <a:rPr sz="950" b="0" i="0">
                <a:solidFill>
                  <a:srgbClr val="F8FAFC"/>
                </a:solidFill>
                <a:latin typeface="Segoe UI"/>
              </a:rPr>
              <a:t>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89286" y="512064"/>
            <a:ext cx="1259586" cy="530352"/>
          </a:xfrm>
          <a:prstGeom prst="roundRect">
            <a:avLst>
              <a:gd name="adj" fmla="val 35000"/>
            </a:avLst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8FAFC"/>
                </a:solidFill>
                <a:latin typeface="Segoe UI"/>
              </a:rPr>
              <a:t>8 </a:t>
            </a:r>
            <a:r>
              <a:rPr sz="950" b="1" i="0">
                <a:solidFill>
                  <a:srgbClr val="F8FAFC"/>
                </a:solidFill>
                <a:latin typeface="Segoe UI"/>
              </a:rPr>
              <a:t>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280160"/>
            <a:ext cx="6766560" cy="512064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572768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22D3EE"/>
                </a:solidFill>
                <a:latin typeface="Segoe UI"/>
              </a:rPr>
              <a:t>STEP 8   </a:t>
            </a:r>
            <a:r>
              <a:rPr sz="2200" b="1" i="0">
                <a:solidFill>
                  <a:srgbClr val="F8FAFC"/>
                </a:solidFill>
                <a:latin typeface="Segoe UI"/>
              </a:rPr>
              <a:t>Download receipts</a:t>
            </a:r>
          </a:p>
          <a:p>
            <a:pPr algn="l"/>
            <a:r>
              <a:rPr sz="1200" b="0" i="1">
                <a:solidFill>
                  <a:srgbClr val="6B7A99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6126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Download a PDF receipt for any of your own payments.</a:t>
            </a:r>
          </a:p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855F7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A receipt that isn't yours returns 404.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85315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495043"/>
            <a:ext cx="73152" cy="877824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513331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22D3EE"/>
                </a:solidFill>
                <a:latin typeface="Segoe UI"/>
              </a:rPr>
              <a:t>ROUTE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/portal/receipts/&lt;id&gt;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656331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2766059"/>
            <a:ext cx="73152" cy="877824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1271" y="2784347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4F8DFD"/>
                </a:solidFill>
                <a:latin typeface="Segoe UI"/>
              </a:rPr>
              <a:t>DATA FLOW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payment id → own 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927348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4037076"/>
            <a:ext cx="73152" cy="877824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1" y="4055363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A855F7"/>
                </a:solidFill>
                <a:latin typeface="Segoe UI"/>
              </a:rPr>
              <a:t>CODE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students/portal.py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5198364"/>
            <a:ext cx="3913632" cy="109728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5308092"/>
            <a:ext cx="73152" cy="877824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5326379"/>
            <a:ext cx="3456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BBF24"/>
                </a:solidFill>
                <a:latin typeface="Segoe UI"/>
              </a:rPr>
              <a:t>GUARDRAILS</a:t>
            </a:r>
          </a:p>
          <a:p>
            <a:pPr algn="l"/>
            <a:r>
              <a:rPr sz="1200" b="0" i="0">
                <a:solidFill>
                  <a:srgbClr val="F8FAFC"/>
                </a:solidFill>
                <a:latin typeface="Segoe UI"/>
              </a:rPr>
              <a:t>IDOR-safe (404 on others)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6692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How the two portals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3A4C4"/>
                </a:solidFill>
                <a:latin typeface="Segoe UI"/>
              </a:rPr>
              <a:t>The admin creates and bills; the student views and pays down. The cycle repeats monthly.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5864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4F8DFD">
              <a:alpha val="25000"/>
            </a:srgbClr>
          </a:solidFill>
          <a:ln w="12700">
            <a:solidFill>
              <a:srgbClr val="4F8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864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1385969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1385969" cy="9144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111164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4F8DFD"/>
                </a:solidFill>
                <a:latin typeface="Segoe UI"/>
              </a:rPr>
              <a:t>1</a:t>
            </a:r>
          </a:p>
          <a:p>
            <a:pPr algn="ctr"/>
            <a:r>
              <a:rPr sz="1150" b="1" i="0">
                <a:solidFill>
                  <a:srgbClr val="F8FAFC"/>
                </a:solidFill>
                <a:latin typeface="Segoe UI"/>
              </a:rPr>
              <a:t>Set up hostels &amp; rooms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035193" y="3630168"/>
            <a:ext cx="182880" cy="237744"/>
          </a:xfrm>
          <a:prstGeom prst="rightArrow">
            <a:avLst/>
          </a:prstGeom>
          <a:solidFill>
            <a:srgbClr val="4F8DF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3001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3001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ADMIN + STUDENT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27217" y="2880360"/>
            <a:ext cx="1385969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27217" y="2880360"/>
            <a:ext cx="1385969" cy="91440"/>
          </a:xfrm>
          <a:prstGeom prst="rect">
            <a:avLst/>
          </a:prstGeom>
          <a:gradFill rotWithShape="1">
            <a:gsLst>
              <a:gs pos="0">
                <a:srgbClr val="FBBF24"/>
              </a:gs>
              <a:gs pos="100000">
                <a:srgbClr val="FBBF2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4377" y="3200400"/>
            <a:ext cx="111164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BBF24"/>
                </a:solidFill>
                <a:latin typeface="Segoe UI"/>
              </a:rPr>
              <a:t>2</a:t>
            </a:r>
          </a:p>
          <a:p>
            <a:pPr algn="ctr"/>
            <a:r>
              <a:rPr sz="1150" b="1" i="0">
                <a:solidFill>
                  <a:srgbClr val="F8FAFC"/>
                </a:solidFill>
                <a:latin typeface="Segoe UI"/>
              </a:rPr>
              <a:t>Enroll students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22330" y="3630168"/>
            <a:ext cx="182880" cy="237744"/>
          </a:xfrm>
          <a:prstGeom prst="rightArrow">
            <a:avLst/>
          </a:prstGeom>
          <a:solidFill>
            <a:srgbClr val="4F8DF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50138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4F8DFD">
              <a:alpha val="25000"/>
            </a:srgbClr>
          </a:solidFill>
          <a:ln w="12700">
            <a:solidFill>
              <a:srgbClr val="4F8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0138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ADMIN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4354" y="2880360"/>
            <a:ext cx="1385969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14354" y="2880360"/>
            <a:ext cx="1385969" cy="9144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1514" y="3200400"/>
            <a:ext cx="111164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4F8DFD"/>
                </a:solidFill>
                <a:latin typeface="Segoe UI"/>
              </a:rPr>
              <a:t>3</a:t>
            </a:r>
          </a:p>
          <a:p>
            <a:pPr algn="ctr"/>
            <a:r>
              <a:rPr sz="1150" b="1" i="0">
                <a:solidFill>
                  <a:srgbClr val="F8FAFC"/>
                </a:solidFill>
                <a:latin typeface="Segoe UI"/>
              </a:rPr>
              <a:t>Allocate beds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209467" y="3630168"/>
            <a:ext cx="182880" cy="237744"/>
          </a:xfrm>
          <a:prstGeom prst="rightArrow">
            <a:avLst/>
          </a:prstGeom>
          <a:solidFill>
            <a:srgbClr val="4F8DF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37276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4F8DFD">
              <a:alpha val="25000"/>
            </a:srgbClr>
          </a:solidFill>
          <a:ln w="12700">
            <a:solidFill>
              <a:srgbClr val="4F8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37276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ADMIN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1491" y="2880360"/>
            <a:ext cx="1385969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01491" y="2880360"/>
            <a:ext cx="1385969" cy="9144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8651" y="3200400"/>
            <a:ext cx="111164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4F8DFD"/>
                </a:solidFill>
                <a:latin typeface="Segoe UI"/>
              </a:rPr>
              <a:t>4</a:t>
            </a:r>
          </a:p>
          <a:p>
            <a:pPr algn="ctr"/>
            <a:r>
              <a:rPr sz="1150" b="1" i="0">
                <a:solidFill>
                  <a:srgbClr val="F8FAFC"/>
                </a:solidFill>
                <a:latin typeface="Segoe UI"/>
              </a:rPr>
              <a:t>Generate monthly fees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796604" y="3630168"/>
            <a:ext cx="182880" cy="237744"/>
          </a:xfrm>
          <a:prstGeom prst="rightArrow">
            <a:avLst/>
          </a:prstGeom>
          <a:solidFill>
            <a:srgbClr val="4F8DF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24413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4F8DFD">
              <a:alpha val="25000"/>
            </a:srgbClr>
          </a:solidFill>
          <a:ln w="12700">
            <a:solidFill>
              <a:srgbClr val="4F8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4413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ADMIN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88628" y="2880360"/>
            <a:ext cx="1385969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88628" y="2880360"/>
            <a:ext cx="1385969" cy="9144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25788" y="3200400"/>
            <a:ext cx="111164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4F8DFD"/>
                </a:solidFill>
                <a:latin typeface="Segoe UI"/>
              </a:rPr>
              <a:t>5</a:t>
            </a:r>
          </a:p>
          <a:p>
            <a:pPr algn="ctr"/>
            <a:r>
              <a:rPr sz="1150" b="1" i="0">
                <a:solidFill>
                  <a:srgbClr val="F8FAFC"/>
                </a:solidFill>
                <a:latin typeface="Segoe UI"/>
              </a:rPr>
              <a:t>Record payments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383741" y="3630168"/>
            <a:ext cx="182880" cy="237744"/>
          </a:xfrm>
          <a:prstGeom prst="rightArrow">
            <a:avLst/>
          </a:prstGeom>
          <a:solidFill>
            <a:srgbClr val="4F8DF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11550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11550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STUDENT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75765" y="2880360"/>
            <a:ext cx="1385969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75765" y="2880360"/>
            <a:ext cx="1385969" cy="91440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12925" y="3200400"/>
            <a:ext cx="111164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A855F7"/>
                </a:solidFill>
                <a:latin typeface="Segoe UI"/>
              </a:rPr>
              <a:t>6</a:t>
            </a:r>
          </a:p>
          <a:p>
            <a:pPr algn="ctr"/>
            <a:r>
              <a:rPr sz="1150" b="1" i="0">
                <a:solidFill>
                  <a:srgbClr val="F8FAFC"/>
                </a:solidFill>
                <a:latin typeface="Segoe UI"/>
              </a:rPr>
              <a:t>View bills &amp; receipts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70878" y="3630168"/>
            <a:ext cx="182880" cy="237744"/>
          </a:xfrm>
          <a:prstGeom prst="rightArrow">
            <a:avLst/>
          </a:prstGeom>
          <a:solidFill>
            <a:srgbClr val="4F8DF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98687" y="23774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4F8DFD">
              <a:alpha val="25000"/>
            </a:srgbClr>
          </a:solidFill>
          <a:ln w="12700">
            <a:solidFill>
              <a:srgbClr val="4F8D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98687" y="2377440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8FAFC"/>
                </a:solidFill>
                <a:latin typeface="Segoe UI"/>
              </a:rPr>
              <a:t>ADMIN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62902" y="2880360"/>
            <a:ext cx="1385969" cy="173736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62902" y="2880360"/>
            <a:ext cx="1385969" cy="91440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4F8D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0062" y="3200400"/>
            <a:ext cx="111164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4F8DFD"/>
                </a:solidFill>
                <a:latin typeface="Segoe UI"/>
              </a:rPr>
              <a:t>7</a:t>
            </a:r>
          </a:p>
          <a:p>
            <a:pPr algn="ctr"/>
            <a:r>
              <a:rPr sz="1150" b="1" i="0">
                <a:solidFill>
                  <a:srgbClr val="F8FAFC"/>
                </a:solidFill>
                <a:latin typeface="Segoe UI"/>
              </a:rPr>
              <a:t>Reports, audit &amp; deactivate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029200"/>
            <a:ext cx="10908792" cy="96012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19379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Segoe UI"/>
              </a:rPr>
              <a:t>↻  </a:t>
            </a:r>
            <a:r>
              <a:rPr sz="1300" b="0" i="0">
                <a:solidFill>
                  <a:srgbClr val="F8FAFC"/>
                </a:solidFill>
                <a:latin typeface="Segoe UI"/>
              </a:rPr>
              <a:t>Bill → pay → reconcile → report → re-allocate. Deactivating a student frees their bed.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6692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Segoe UI"/>
              </a:rPr>
              <a:t>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8FAFC"/>
                </a:solidFill>
                <a:latin typeface="Segoe UI"/>
              </a:rPr>
              <a:t>Why it holds up under real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93A4C4"/>
                </a:solidFill>
                <a:latin typeface="Segoe UI"/>
              </a:rPr>
              <a:t>Guardrails are enforced in code and in the database — not just in the UI.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3456432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253288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Segoe UI"/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32888"/>
            <a:ext cx="226771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Segoe UI"/>
              </a:rPr>
              <a:t>Role-checked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971800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3A4C4"/>
                </a:solidFill>
                <a:latin typeface="Segoe UI"/>
              </a:rPr>
              <a:t>admin_required / student_required on every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148840"/>
            <a:ext cx="3456432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253288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Segoe UI"/>
              </a:rPr>
              <a:t>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532888"/>
            <a:ext cx="226771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Segoe UI"/>
              </a:rPr>
              <a:t>DB-level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971800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3A4C4"/>
                </a:solidFill>
                <a:latin typeface="Segoe UI"/>
              </a:rPr>
              <a:t>partial unique indexes + capacity triggers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14884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2148840"/>
            <a:ext cx="3456432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253288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Segoe UI"/>
              </a:rPr>
              <a:t>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532888"/>
            <a:ext cx="226771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Segoe UI"/>
              </a:rPr>
              <a:t>Immutable 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971800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3A4C4"/>
                </a:solidFill>
                <a:latin typeface="Segoe UI"/>
              </a:rPr>
              <a:t>corrections are linked reversal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69080"/>
            <a:ext cx="3456432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4531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Segoe UI"/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453128"/>
            <a:ext cx="226771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Segoe UI"/>
              </a:rPr>
              <a:t>Self-scoped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892040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3A4C4"/>
                </a:solidFill>
                <a:latin typeface="Segoe UI"/>
              </a:rPr>
              <a:t>students never see other records (404)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2" y="4069080"/>
            <a:ext cx="3456432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44531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Segoe UI"/>
              </a:rPr>
              <a:t>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0952" y="4453128"/>
            <a:ext cx="226771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Segoe UI"/>
              </a:rPr>
              <a:t>Decimal money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0952" y="4892040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3A4C4"/>
                </a:solidFill>
                <a:latin typeface="Segoe UI"/>
              </a:rPr>
              <a:t>no floating-point drift in billing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4069080"/>
            <a:ext cx="3456432" cy="1600200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01583" y="4069080"/>
            <a:ext cx="3456432" cy="73152"/>
          </a:xfrm>
          <a:prstGeom prst="rect">
            <a:avLst/>
          </a:prstGeom>
          <a:gradFill rotWithShape="1">
            <a:gsLst>
              <a:gs pos="0">
                <a:srgbClr val="4F8DFD"/>
              </a:gs>
              <a:gs pos="100000">
                <a:srgbClr val="A855F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4453128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8FAFC"/>
                </a:solidFill>
                <a:latin typeface="Segoe UI"/>
              </a:rP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4453128"/>
            <a:ext cx="226771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8FAFC"/>
                </a:solidFill>
                <a:latin typeface="Segoe UI"/>
              </a:rPr>
              <a:t>Full audit trail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4892040"/>
            <a:ext cx="226771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93A4C4"/>
                </a:solidFill>
                <a:latin typeface="Segoe UI"/>
              </a:rPr>
              <a:t>every state change is logged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120"/>
              </a:gs>
              <a:gs pos="100000">
                <a:srgbClr val="1B123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A855F7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4572000" cy="4572000"/>
          </a:xfrm>
          <a:prstGeom prst="ellipse">
            <a:avLst/>
          </a:prstGeom>
          <a:solidFill>
            <a:srgbClr val="4F8DF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Segoe UI"/>
              </a:rPr>
              <a:t>READY TO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8FAFC"/>
                </a:solidFill>
                <a:latin typeface="Segoe UI"/>
              </a:rPr>
              <a:t>Start the app. Present the flows. Ship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10515600" cy="1874519"/>
          </a:xfrm>
          <a:prstGeom prst="roundRect">
            <a:avLst>
              <a:gd name="adj" fmla="val 6000"/>
            </a:avLst>
          </a:prstGeom>
          <a:solidFill>
            <a:srgbClr val="F8FAFC">
              <a:alpha val="7000"/>
            </a:srgbClr>
          </a:solidFill>
          <a:ln w="12700">
            <a:solidFill>
              <a:srgbClr val="2B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79476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python run.py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   →   http://127.0.0.1:5000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python -m pytest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   →   147 tests</a:t>
            </a:r>
          </a:p>
          <a:p>
            <a:pPr algn="l"/>
            <a:r>
              <a:rPr sz="1500" b="1" i="0">
                <a:solidFill>
                  <a:srgbClr val="A855F7"/>
                </a:solidFill>
                <a:latin typeface="Segoe UI"/>
              </a:rPr>
              <a:t>python -m ruff check .</a:t>
            </a:r>
            <a:r>
              <a:rPr sz="1400" b="0" i="0">
                <a:solidFill>
                  <a:srgbClr val="93A4C4"/>
                </a:solidFill>
                <a:latin typeface="Segoe UI"/>
              </a:rPr>
              <a:t>   →   clean lint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Segoe UI"/>
              </a:rPr>
              <a:t>Press → to advance each workflow step — Morph animates the transition between slides.</a:t>
            </a:r>
          </a:p>
        </p:txBody>
      </p:sp>
    </p:spTree>
  </p:cSld>
  <p:clrMapOvr>
    <a:masterClrMapping/>
  </p:clrMapOvr>
  <p:transition xmlns:mc="http://schemas.openxmlformats.org/markup-compatibility/2006" xmlns:p159="http://schemas.microsoft.com/office/powerpoint/2015/09/main" spd="slow">
    <mc:AlternateContent>
      <mc:Choice Requires="p159">
        <p159:morph option="byObject"/>
      </mc:Choice>
      <mc:Fallback>
        <p:fade/>
      </mc:Fallback>
    </mc:AlternateContent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