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64592"/>
            <a:ext cx="384048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23444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 Semibold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29844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475569"/>
                </a:solidFill>
                <a:latin typeface="Segoe UI"/>
              </a:rPr>
              <a:t>HOSTEL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78638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200" b="1" i="0">
                <a:solidFill>
                  <a:srgbClr val="0F172A"/>
                </a:solidFill>
                <a:latin typeface="Segoe UI Semibold"/>
              </a:rPr>
              <a:t>Sunrise Student</a:t>
            </a:r>
          </a:p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2563EB"/>
                </a:solidFill>
                <a:latin typeface="Segoe UI Semibold"/>
              </a:rPr>
              <a:t>Hostel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434840"/>
            <a:ext cx="21945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61772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Segoe UI"/>
              </a:rPr>
              <a:t>Admin &amp; Student Portal — a clear, end-to-end walkthrough of the whole operation.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5349240"/>
            <a:ext cx="886968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349240"/>
            <a:ext cx="8869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9384" y="5349240"/>
            <a:ext cx="886968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9384" y="5349240"/>
            <a:ext cx="8869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Rooms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79" y="534924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79" y="5349240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534924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5349240"/>
            <a:ext cx="12435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Allocate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534924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32704" y="534924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Bill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5349240"/>
            <a:ext cx="649224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5349240"/>
            <a:ext cx="649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Pay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53492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53492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6108192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Flask  ·  PostgreSQL  ·  2026      Auto-advancing</a:t>
            </a:r>
          </a:p>
        </p:txBody>
      </p:sp>
      <p:sp>
        <p:nvSpPr>
          <p:cNvPr id="30" name="Oval 29"/>
          <p:cNvSpPr/>
          <p:nvPr/>
        </p:nvSpPr>
        <p:spPr>
          <a:xfrm>
            <a:off x="9189720" y="1325880"/>
            <a:ext cx="3383280" cy="33832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welcom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417320"/>
            <a:ext cx="3200400" cy="320040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9189720" y="1325880"/>
            <a:ext cx="3383280" cy="3383280"/>
          </a:xfrm>
          <a:prstGeom prst="ellipse">
            <a:avLst/>
          </a:prstGeom>
          <a:noFill/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6000">
        <p159:morph option="byObject"/>
        <p:sndAc>
          <p:stSnd>
            <p:snd r:embed="rId2" name="wind.wav"/>
          </p:stSnd>
        </p:sndAc>
      </p:transition>
    </mc:Choice>
    <mc:Fallback>
      <p:transition spd="slow" advClick="0" advTm="6000">
        <p:fade/>
        <p:sndAc>
          <p:stSnd>
            <p:snd r:embed="rId2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One system. Two portals. Zero guesswork.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Everything an operator needs, and a clean self-service view for every resident.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5877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2039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2563EB"/>
                </a:soli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9184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Portals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47872" y="2148840"/>
            <a:ext cx="2587752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2468880"/>
            <a:ext cx="2039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0EA5E9"/>
                </a:solidFill>
                <a:latin typeface="Segoe UI Semibold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9184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Modules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5664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55664" y="2148840"/>
            <a:ext cx="2587752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2468880"/>
            <a:ext cx="2039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6A34A"/>
                </a:solidFill>
                <a:latin typeface="Segoe UI Semibold"/>
              </a:rPr>
              <a:t>147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29184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Tests passing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6" y="2148840"/>
            <a:ext cx="25877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63456" y="2148840"/>
            <a:ext cx="2587752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56064" y="2468880"/>
            <a:ext cx="2039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7C3AED"/>
                </a:solidFill>
                <a:latin typeface="Segoe UI Semibold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4" y="329184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Role-guarded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51960"/>
            <a:ext cx="1090879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48056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Admins run hostels, rooms, allocations, billing and payments.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Students sign in to view their room, bills, payments and receipts.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One database, one audit trail, one source of truth.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6000">
        <p159:morph option="byObject"/>
      </p:transition>
    </mc:Choice>
    <mc:Fallback>
      <p:transition advClick="0" advTm="6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Two portals, one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The landing page is decided by the account's role at login.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53035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5303520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217627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 Semibold"/>
              </a:rPr>
              <a:t>Admin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219456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Segoe UI"/>
              </a:rPr>
              <a:t>/admin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2880360"/>
            <a:ext cx="4709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Hostels &amp; rooms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Students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Allocations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Fees &amp; structures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Payments &amp; receipts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Reports &amp; audit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Settings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057400"/>
            <a:ext cx="530352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5352" y="2057400"/>
            <a:ext cx="530352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17627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 Semibold"/>
              </a:rPr>
              <a:t>Student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19456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Segoe UI"/>
              </a:rPr>
              <a:t>/portal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880360"/>
            <a:ext cx="4709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Dashboard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Profile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My room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My bills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My payments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7C3AED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PDF receipts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6000">
        <p159:morph option="byObject"/>
      </p:transition>
    </mc:Choice>
    <mc:Fallback>
      <p:transition advClick="0" advTm="6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UNDER THE 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Built on a modern, dependable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Batteries included, standards-based, easy to run and 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" y="249631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49631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514600"/>
            <a:ext cx="2039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Flask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935224"/>
            <a:ext cx="2039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App factory + blueprints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63440" y="249631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249631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2514600"/>
            <a:ext cx="2039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2935224"/>
            <a:ext cx="2039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SQLAlchemy + Alembic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94192" y="249631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249631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2514600"/>
            <a:ext cx="2039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Flask-Login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935224"/>
            <a:ext cx="2039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Role-based sessions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" y="441655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41655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34840"/>
            <a:ext cx="2039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Bootstrap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855464"/>
            <a:ext cx="2039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Responsive 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663440" y="441655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441655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434840"/>
            <a:ext cx="2039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ReportLab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9552" y="4855464"/>
            <a:ext cx="2039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PDF receipts &amp; reports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01583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94192" y="4416552"/>
            <a:ext cx="713232" cy="713232"/>
          </a:xfrm>
          <a:prstGeom prst="roundRect">
            <a:avLst>
              <a:gd name="adj" fmla="val 30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4416552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563EB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4434840"/>
            <a:ext cx="2039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F172A"/>
                </a:solidFill>
                <a:latin typeface="Segoe UI Semibold"/>
              </a:rPr>
              <a:t>pytest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4855464"/>
            <a:ext cx="2039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147 tests passing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6000">
        <p159:morph option="byObject"/>
      </p:transition>
    </mc:Choice>
    <mc:Fallback>
      <p:transition advClick="0" advTm="6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55580" y="-1088136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2171" y="317385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WORKFLOW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Admin portal — the 8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From sign-in to reporting.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1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Sign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02152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9896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2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64224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3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Hostels &amp; Rooms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26296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4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Students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26296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40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5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Allocations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4224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64224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968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6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Fees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2152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02152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39896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7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Payments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8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Reports &amp; Audit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008376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/>
          <p:cNvSpPr/>
          <p:nvPr/>
        </p:nvSpPr>
        <p:spPr>
          <a:xfrm>
            <a:off x="5870448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8732520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own Arrow 40"/>
          <p:cNvSpPr/>
          <p:nvPr/>
        </p:nvSpPr>
        <p:spPr>
          <a:xfrm>
            <a:off x="10259567" y="3273552"/>
            <a:ext cx="256032" cy="996696"/>
          </a:xfrm>
          <a:prstGeom prst="down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Left Arrow 41"/>
          <p:cNvSpPr/>
          <p:nvPr/>
        </p:nvSpPr>
        <p:spPr>
          <a:xfrm>
            <a:off x="8732520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eft Arrow 42"/>
          <p:cNvSpPr/>
          <p:nvPr/>
        </p:nvSpPr>
        <p:spPr>
          <a:xfrm>
            <a:off x="5870448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Left Arrow 43"/>
          <p:cNvSpPr/>
          <p:nvPr/>
        </p:nvSpPr>
        <p:spPr>
          <a:xfrm>
            <a:off x="3008376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5000">
        <p159:morph option="byObject"/>
      </p:transition>
    </mc:Choice>
    <mc:Fallback>
      <p:transition spd="slow" advClick="0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 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2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1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Admin signs in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/auth/login → /admin/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Email + password verified against the stored hash.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 Flask-Login session opens and last_login_at is stamped.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Role decides the landing page: admin →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/auth/login → /admin/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rate-limited · no enumeration · role redirect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2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Operational dashboard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Live KPIs: students, rooms, capacity, occupancy.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Monthly collection, outstanding and overdue count.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Charts: by room type, by hostel, 6-month trend.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SQL aggregates → cards +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admin/routes.py · services/dashboard_service.py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admin_required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3 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3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Set up hostels &amp; rooms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/hostels · /rooms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Create a hostel, then add rooms (type, capacity, base fee).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Capacity can never drop below current occupancy.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Rooms with history can't be deleted — make unavailable.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/hostels · /rooms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form → Hostel / Room rows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rooms/routes.py · rooms/forms.py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capacity ≥ occupancy · unique number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4 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4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Onboard students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Create a student + optional portal login in one step.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Filter by course, year, status, allocation, fee state.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Deactivating automatically releases the active room.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profile → Student (+ User)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students/routes.py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unique email &amp; roll no · deactivation frees bed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5 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5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Allocate beds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/allocations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Auto, manual, transfer and release operations.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Auto picks the lowest free bed in the first eligible room.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Concurrency-safe: SKIP LOCKED + unique indexes + trigger.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/allocations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 + room → active allocation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allocations/routes.py · services/allocation_service.py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no double-booking · retries on contention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6 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6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Generate monthly bills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Structures per room type set the default amounts.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Generate for a period (YYYY-MM); duplicates skipped.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Late fee after grace; status paid / partial / overdue / pending.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rooms + structures + period → StudentFee rows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fees/routes.py · services/fee_service.py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Decimal money · idempotent generation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7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7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Record payments &amp; receipts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Idempotency key prevents duplicate payments.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Fee row locked (FOR UPDATE); overpayment rejected.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Immutable — corrections are linked reversals; PDF receipt.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/payments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payment → Payment row → balance update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payments/routes.py · services/payment_service.py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idempotent · immutable · receipt PDF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Hostels &amp; Rooms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7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8 Reports &amp;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8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Reports, audit &amp; settings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Slug-based reports with CSV export + occupancy/financial PDFs.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Audit log records who changed what.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Settings: hostel identity, currency, late-fee policy.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DB → CSV / PDF · every write →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reports/routes.py · admin/routes.py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admin_required · immutable audit trail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WORKFLOW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Student portal — the 8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From sign-up to receipts.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1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02152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9896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2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Sign 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64224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3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22860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26296" y="22860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24323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4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26296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40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5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Allocations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4224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64224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968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6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Fees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2152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502152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39896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7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Payments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343400"/>
            <a:ext cx="23225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34340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4489704"/>
            <a:ext cx="1911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STEP 8</a:t>
            </a:r>
          </a:p>
          <a:p>
            <a:pPr algn="l"/>
            <a:r>
              <a:rPr sz="1250" b="1" i="0">
                <a:solidFill>
                  <a:srgbClr val="0F172A"/>
                </a:solidFill>
                <a:latin typeface="Segoe UI"/>
              </a:rPr>
              <a:t>Receipts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008376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/>
          <p:cNvSpPr/>
          <p:nvPr/>
        </p:nvSpPr>
        <p:spPr>
          <a:xfrm>
            <a:off x="5870448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8732520" y="2615184"/>
            <a:ext cx="548640" cy="256032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own Arrow 40"/>
          <p:cNvSpPr/>
          <p:nvPr/>
        </p:nvSpPr>
        <p:spPr>
          <a:xfrm>
            <a:off x="10259567" y="3273552"/>
            <a:ext cx="256032" cy="996696"/>
          </a:xfrm>
          <a:prstGeom prst="down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Left Arrow 41"/>
          <p:cNvSpPr/>
          <p:nvPr/>
        </p:nvSpPr>
        <p:spPr>
          <a:xfrm>
            <a:off x="8732520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eft Arrow 42"/>
          <p:cNvSpPr/>
          <p:nvPr/>
        </p:nvSpPr>
        <p:spPr>
          <a:xfrm>
            <a:off x="5870448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Left Arrow 43"/>
          <p:cNvSpPr/>
          <p:nvPr/>
        </p:nvSpPr>
        <p:spPr>
          <a:xfrm>
            <a:off x="3008376" y="4672584"/>
            <a:ext cx="548640" cy="256032"/>
          </a:xfrm>
          <a:prstGeom prst="lef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5000">
        <p159:morph option="byObject"/>
      </p:transition>
    </mc:Choice>
    <mc:Fallback>
      <p:transition spd="slow" advClick="0" advTm="5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1 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2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1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Create a portal account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/auth/signup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Signup creates the User (role = student) + Student profile.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Email and roll number must be unique.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New accounts link straight to the student portal.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/auth/signup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signup → User + Student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rate-limited · unique email &amp; roll no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2 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3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2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Student signs in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/auth/login → /portal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Same login endpoint; the role picks the destination.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Students always land on the portal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/auth/login → /portal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app/auth/routes.py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rate-limited · role redirect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3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4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3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Personal dashboard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Current room allocation and recent payments.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Upcoming due bill and totals: billed, paid, outstanding.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Everything scoped to the logged-in student.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records → summary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student_required · self-scoped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4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5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4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Profile self-service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View the profile; edit phone, address, emergency contact.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Identity fields stay admin-controlled.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limited form → Student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editable fields restricted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5 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6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5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My room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/portal/allocations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Current bed plus full allocation history.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Read-only — allocation is an admin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/portal/allocations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allocations →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6 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7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6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My bills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Monthly bills with amount, paid, balance, status.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Per-bill detail shows the breakdown and due date.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Opening someone else's bill returns 404.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/portal/fees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fees → list / detail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7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94A3B8"/>
                </a:solidFill>
                <a:latin typeface="Segoe UI"/>
              </a:rPr>
              <a:t>8 </a:t>
            </a:r>
            <a:r>
              <a:rPr sz="900" b="0" i="0">
                <a:solidFill>
                  <a:srgbClr val="94A3B8"/>
                </a:solidFill>
                <a:latin typeface="Segoe UI"/>
              </a:rPr>
              <a:t>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7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My payments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History of payments recorded against the account.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Read-only — recording is an admin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/portal/payments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own payments →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Segoe UI"/>
              </a:rPr>
              <a:t>STEP-BY-STEP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1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739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2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1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3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025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4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5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Allocations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6654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6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3970" y="585216"/>
            <a:ext cx="1267587" cy="384048"/>
          </a:xfrm>
          <a:prstGeom prst="roundRect">
            <a:avLst>
              <a:gd name="adj" fmla="val 40000"/>
            </a:avLst>
          </a:prstGeom>
          <a:solidFill>
            <a:srgbClr val="E8EEF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2563EB"/>
                </a:solidFill>
                <a:latin typeface="Segoe UI"/>
              </a:rPr>
              <a:t>7 </a:t>
            </a:r>
            <a:r>
              <a:rPr sz="900" b="0" i="0">
                <a:solidFill>
                  <a:srgbClr val="2563EB"/>
                </a:solidFill>
                <a:latin typeface="Segoe U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1285" y="539496"/>
            <a:ext cx="1267587" cy="47548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8 Receipts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61872"/>
            <a:ext cx="6766560" cy="5138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155448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STEP 8   </a:t>
            </a:r>
            <a:r>
              <a:rPr sz="2100" b="1" i="0">
                <a:solidFill>
                  <a:srgbClr val="0F172A"/>
                </a:solidFill>
                <a:latin typeface="Segoe UI Semibold"/>
              </a:rPr>
              <a:t>Download receipts</a:t>
            </a:r>
          </a:p>
          <a:p>
            <a:pPr algn="l"/>
            <a:r>
              <a:rPr sz="1200" b="0" i="1">
                <a:solidFill>
                  <a:srgbClr val="94A3B8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43200"/>
            <a:ext cx="6126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Download a PDF receipt for any of your own payments.</a:t>
            </a:r>
          </a:p>
          <a:p>
            <a:pPr algn="l">
              <a:spcAft>
                <a:spcPts val="1400"/>
              </a:spcAft>
            </a:pPr>
            <a:r>
              <a:rPr sz="1350" b="1" i="0">
                <a:solidFill>
                  <a:srgbClr val="2563EB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475569"/>
                </a:solidFill>
                <a:latin typeface="Segoe UI"/>
              </a:rPr>
              <a:t>A receipt that isn't yours returns 404.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6172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485900"/>
            <a:ext cx="6400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2983" y="1495043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ROUTE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647187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2756915"/>
            <a:ext cx="64008" cy="8778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3" y="2766059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563EB"/>
                </a:solidFill>
                <a:latin typeface="Segoe UI"/>
              </a:rPr>
              <a:t>DATA FLOW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payment id → own PDF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91820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4027932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4037076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7C3AED"/>
                </a:solidFill>
                <a:latin typeface="Segoe UI"/>
              </a:rPr>
              <a:t>CODE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students/portal.py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189220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35240" y="5298948"/>
            <a:ext cx="64008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72983" y="5308092"/>
            <a:ext cx="35295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GUARDRAILS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8000">
        <p159:morph option="byObject"/>
      </p:transition>
    </mc:Choice>
    <mc:Fallback>
      <p:transition spd="slow" advClick="0" advTm="8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END TO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How the two portals 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The admin creates and bills; the student views and pays down. The cycle repeats monthly.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5864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864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1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Set up hostels &amp; rooms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035193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463001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3001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 + STUDENT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27217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27217" y="2880360"/>
            <a:ext cx="1385969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64377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D97706"/>
                </a:solidFill>
                <a:latin typeface="Segoe UI Semibold"/>
              </a:rPr>
              <a:t>2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Enroll students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622330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050138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50138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4354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14354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1514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3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Allocate beds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09467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637276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37276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1491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01491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38651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4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Generate monthly fees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796604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24413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4413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88628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988628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25788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5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Record payments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383741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811550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11550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75765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575765" y="2880360"/>
            <a:ext cx="1385969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2925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7C3AED"/>
                </a:solidFill>
                <a:latin typeface="Segoe UI Semibold"/>
              </a:rPr>
              <a:t>6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View bills &amp; receipts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970878" y="3616452"/>
            <a:ext cx="182880" cy="219456"/>
          </a:xfrm>
          <a:prstGeom prst="rightArrow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398687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98687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62902" y="2880360"/>
            <a:ext cx="138596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162902" y="2880360"/>
            <a:ext cx="1385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00062" y="3172968"/>
            <a:ext cx="1111649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2563EB"/>
                </a:solidFill>
                <a:latin typeface="Segoe UI Semibold"/>
              </a:rPr>
              <a:t>7</a:t>
            </a:r>
          </a:p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Reports, audit &amp; deactivate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02920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193792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Segoe UI"/>
              </a:rPr>
              <a:t>↻ 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Bill → pay → reconcile → report → re-allocate. Deactivating a student frees their bed.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6000">
        <p159:morph option="byObject"/>
      </p:transition>
    </mc:Choice>
    <mc:Fallback>
      <p:transition spd="slow" advClick="0" advTm="6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24160" y="-109728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603504"/>
            <a:ext cx="9144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Segoe UI Semibold"/>
              </a:rPr>
              <a:t>Why it holds up under real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17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Guardrails are enforced in code and in the database — not just in the 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47088"/>
            <a:ext cx="10908792" cy="18288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49631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963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Role-checked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16936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admin_required / student_required on every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14884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70832" y="214884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249631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4963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DB-level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2916936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partial unique indexes + capacity triggers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14884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01583" y="214884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249631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4963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Immutable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2916936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corrections are linked reversal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02336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37083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37083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Self-scoped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791456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students never see other records (404)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402336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0832" y="402336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437083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437083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Decimal money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4791456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no floating-point drift in billing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01583" y="4023360"/>
            <a:ext cx="345643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01583" y="4023360"/>
            <a:ext cx="3456432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4370832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2563EB"/>
                </a:solidFill>
                <a:latin typeface="Segoe UI"/>
              </a:rPr>
              <a:t>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437083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 Semibold"/>
              </a:rPr>
              <a:t>Full audit trail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5984" y="4791456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Segoe UI"/>
              </a:rPr>
              <a:t>every state change is logged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7000">
        <p159:morph option="byObject"/>
      </p:transition>
    </mc:Choice>
    <mc:Fallback>
      <p:transition spd="slow" advClick="0" advTm="7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50912" y="320040"/>
            <a:ext cx="3840480" cy="384048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elcom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720" y="1032715"/>
            <a:ext cx="2340864" cy="234086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1420856" y="192024"/>
            <a:ext cx="694944" cy="694944"/>
          </a:xfrm>
          <a:prstGeom prst="ellipse">
            <a:avLst/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97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300" b="1" i="0" dirty="0">
                <a:solidFill>
                  <a:srgbClr val="2563EB"/>
                </a:solidFill>
                <a:latin typeface="Segoe U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0315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Segoe UI Semibold"/>
              </a:rPr>
              <a:t>Questions?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520440"/>
            <a:ext cx="2194560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Segoe UI"/>
              </a:rPr>
              <a:t>Sunrise Student Hostel  ·  Flask +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617720"/>
            <a:ext cx="9692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563EB"/>
                </a:solidFill>
                <a:latin typeface="Segoe UI"/>
              </a:rPr>
              <a:t>python run.py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 →   http://127.0.0.1:5000</a:t>
            </a:r>
          </a:p>
          <a:p>
            <a:pPr algn="l"/>
            <a:r>
              <a:rPr sz="1400" b="1" i="0">
                <a:solidFill>
                  <a:srgbClr val="16A34A"/>
                </a:solidFill>
                <a:latin typeface="Segoe UI"/>
              </a:rPr>
              <a:t>python -m pytest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   →   147 tests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 advClick="0" advTm="25000">
        <p159:morph option="byObject"/>
        <p:sndAc>
          <p:stSnd>
            <p:snd r:embed="rId2" name="applause.wav"/>
          </p:stSnd>
        </p:sndAc>
      </p:transition>
    </mc:Choice>
    <mc:Fallback>
      <p:transition spd="slow" advClick="0" advTm="25000">
        <p:fade/>
        <p:sndAc>
          <p:stSnd>
            <p:snd r:embed="rId2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1925</Words>
  <Application>Microsoft Office PowerPoint</Application>
  <PresentationFormat>Widescreen</PresentationFormat>
  <Paragraphs>505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leela tatikonda</cp:lastModifiedBy>
  <cp:revision>3</cp:revision>
  <dcterms:created xsi:type="dcterms:W3CDTF">2013-01-27T09:14:16Z</dcterms:created>
  <dcterms:modified xsi:type="dcterms:W3CDTF">2026-10-17T08:44:50Z</dcterms:modified>
  <cp:category/>
</cp:coreProperties>
</file>